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Cambria Bold" charset="1" panose="02040803050406030204"/>
      <p:regular r:id="rId10"/>
    </p:embeddedFont>
    <p:embeddedFont>
      <p:font typeface="Calibri (MS) Italics" charset="1" panose="020F05020202040A0204"/>
      <p:regular r:id="rId11"/>
    </p:embeddedFont>
    <p:embeddedFont>
      <p:font typeface="Calibri (MS)" charset="1" panose="020F0502020204030204"/>
      <p:regular r:id="rId12"/>
    </p:embeddedFont>
    <p:embeddedFont>
      <p:font typeface="Calibri (MS) Bold" charset="1" panose="020F070203040403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50440" y="-2194560"/>
            <a:ext cx="6172200" cy="6172200"/>
            <a:chOff x="0" y="0"/>
            <a:chExt cx="8229600" cy="822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296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8229600">
                  <a:moveTo>
                    <a:pt x="0" y="4114800"/>
                  </a:moveTo>
                  <a:cubicBezTo>
                    <a:pt x="0" y="1842262"/>
                    <a:pt x="1842262" y="0"/>
                    <a:pt x="4114800" y="0"/>
                  </a:cubicBezTo>
                  <a:cubicBezTo>
                    <a:pt x="6387338" y="0"/>
                    <a:pt x="8229600" y="1842262"/>
                    <a:pt x="8229600" y="4114800"/>
                  </a:cubicBezTo>
                  <a:cubicBezTo>
                    <a:pt x="8229600" y="6387338"/>
                    <a:pt x="6387338" y="8229600"/>
                    <a:pt x="4114800" y="8229600"/>
                  </a:cubicBezTo>
                  <a:cubicBezTo>
                    <a:pt x="1842262" y="8229600"/>
                    <a:pt x="0" y="6387338"/>
                    <a:pt x="0" y="4114800"/>
                  </a:cubicBezTo>
                  <a:close/>
                </a:path>
              </a:pathLst>
            </a:custGeom>
            <a:solidFill>
              <a:srgbClr val="26263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870680" y="7680960"/>
            <a:ext cx="3017520" cy="3017520"/>
            <a:chOff x="0" y="0"/>
            <a:chExt cx="4023360" cy="4023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233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4023360">
                  <a:moveTo>
                    <a:pt x="0" y="2011680"/>
                  </a:moveTo>
                  <a:cubicBezTo>
                    <a:pt x="0" y="900684"/>
                    <a:pt x="900684" y="0"/>
                    <a:pt x="2011680" y="0"/>
                  </a:cubicBezTo>
                  <a:cubicBezTo>
                    <a:pt x="3122676" y="0"/>
                    <a:pt x="4023360" y="900684"/>
                    <a:pt x="4023360" y="2011680"/>
                  </a:cubicBezTo>
                  <a:cubicBezTo>
                    <a:pt x="4023360" y="3122676"/>
                    <a:pt x="3122676" y="4023360"/>
                    <a:pt x="2011680" y="4023360"/>
                  </a:cubicBezTo>
                  <a:cubicBezTo>
                    <a:pt x="900684" y="4023360"/>
                    <a:pt x="0" y="3122676"/>
                    <a:pt x="0" y="2011680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3771900"/>
            <a:ext cx="14813280" cy="1783080"/>
            <a:chOff x="0" y="0"/>
            <a:chExt cx="19751040" cy="2377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51039" cy="2377440"/>
            </a:xfrm>
            <a:custGeom>
              <a:avLst/>
              <a:gdLst/>
              <a:ahLst/>
              <a:cxnLst/>
              <a:rect r="r" b="b" t="t" l="l"/>
              <a:pathLst>
                <a:path h="23774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875" r="0" b="-11187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975104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IMDb Movie Analysis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5417820"/>
            <a:ext cx="13030200" cy="1361833"/>
            <a:chOff x="0" y="0"/>
            <a:chExt cx="17373600" cy="18157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1815778"/>
            </a:xfrm>
            <a:custGeom>
              <a:avLst/>
              <a:gdLst/>
              <a:ahLst/>
              <a:cxnLst/>
              <a:rect r="r" b="b" t="t" l="l"/>
              <a:pathLst>
                <a:path h="181577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815778"/>
                  </a:lnTo>
                  <a:lnTo>
                    <a:pt x="0" y="18157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220" r="0" b="-1166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373600" cy="1872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C9C9D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Exploratory SQL analysis of movies released 2010–2019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C9C9D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 By Shaun Raymond M. Okwuosa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5390" y="6496050"/>
            <a:ext cx="1958340" cy="38100"/>
            <a:chOff x="0" y="0"/>
            <a:chExt cx="2611120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11120" cy="50800"/>
            </a:xfrm>
            <a:custGeom>
              <a:avLst/>
              <a:gdLst/>
              <a:ahLst/>
              <a:cxnLst/>
              <a:rect r="r" b="b" t="t" l="l"/>
              <a:pathLst>
                <a:path h="50800" w="2611120">
                  <a:moveTo>
                    <a:pt x="0" y="0"/>
                  </a:moveTo>
                  <a:lnTo>
                    <a:pt x="261112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951530" r="0" b="-951530"/>
              </a:stretch>
            </a:blipFill>
            <a:ln w="38100" cap="sq">
              <a:solidFill>
                <a:srgbClr val="C9A227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2344400" cy="822960"/>
            <a:chOff x="0" y="0"/>
            <a:chExt cx="16459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459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1B2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Initial Exploration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81328"/>
            <a:ext cx="754380" cy="68580"/>
            <a:chOff x="0" y="0"/>
            <a:chExt cx="1005840" cy="91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2057400"/>
            <a:ext cx="5074920" cy="7338060"/>
            <a:chOff x="0" y="0"/>
            <a:chExt cx="6766560" cy="9784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66560" cy="9784080"/>
            </a:xfrm>
            <a:custGeom>
              <a:avLst/>
              <a:gdLst/>
              <a:ahLst/>
              <a:cxnLst/>
              <a:rect r="r" b="b" t="t" l="l"/>
              <a:pathLst>
                <a:path h="9784080" w="6766560">
                  <a:moveTo>
                    <a:pt x="1270000" y="0"/>
                  </a:moveTo>
                  <a:lnTo>
                    <a:pt x="5496560" y="0"/>
                  </a:lnTo>
                  <a:cubicBezTo>
                    <a:pt x="6197962" y="0"/>
                    <a:pt x="6766560" y="568598"/>
                    <a:pt x="6766560" y="1270000"/>
                  </a:cubicBezTo>
                  <a:lnTo>
                    <a:pt x="6766560" y="8514080"/>
                  </a:lnTo>
                  <a:cubicBezTo>
                    <a:pt x="6766560" y="9215482"/>
                    <a:pt x="6197962" y="9784080"/>
                    <a:pt x="5496560" y="9784080"/>
                  </a:cubicBezTo>
                  <a:lnTo>
                    <a:pt x="1270000" y="9784080"/>
                  </a:lnTo>
                  <a:cubicBezTo>
                    <a:pt x="933175" y="9784080"/>
                    <a:pt x="610146" y="9650277"/>
                    <a:pt x="371974" y="9412106"/>
                  </a:cubicBezTo>
                  <a:cubicBezTo>
                    <a:pt x="133803" y="9173935"/>
                    <a:pt x="0" y="8850905"/>
                    <a:pt x="0" y="8514080"/>
                  </a:cubicBezTo>
                  <a:lnTo>
                    <a:pt x="0" y="1270000"/>
                  </a:lnTo>
                  <a:cubicBezTo>
                    <a:pt x="0" y="568598"/>
                    <a:pt x="568598" y="0"/>
                    <a:pt x="1270000" y="0"/>
                  </a:cubicBezTo>
                  <a:close/>
                </a:path>
              </a:pathLst>
            </a:custGeom>
            <a:solidFill>
              <a:srgbClr val="1B1B2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3497580"/>
            <a:ext cx="5074920" cy="1508760"/>
            <a:chOff x="0" y="0"/>
            <a:chExt cx="6766560" cy="20116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665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676656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280"/>
                </a:lnSpc>
              </a:pPr>
              <a:r>
                <a:rPr lang="en-US" sz="6900" b="true">
                  <a:solidFill>
                    <a:srgbClr val="C9A22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145,081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5006340"/>
            <a:ext cx="4251960" cy="1234440"/>
            <a:chOff x="0" y="0"/>
            <a:chExt cx="5669280" cy="1645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692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15" r="0" b="-1711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66928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movies released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2010–2019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10715" y="6505575"/>
            <a:ext cx="2899410" cy="19050"/>
            <a:chOff x="0" y="0"/>
            <a:chExt cx="3865880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65880" cy="25400"/>
            </a:xfrm>
            <a:custGeom>
              <a:avLst/>
              <a:gdLst/>
              <a:ahLst/>
              <a:cxnLst/>
              <a:rect r="r" b="b" t="t" l="l"/>
              <a:pathLst>
                <a:path h="25400" w="3865880">
                  <a:moveTo>
                    <a:pt x="0" y="0"/>
                  </a:moveTo>
                  <a:lnTo>
                    <a:pt x="3865880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915622" r="0" b="-2915622"/>
              </a:stretch>
            </a:blipFill>
            <a:ln w="1905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440" y="6926580"/>
            <a:ext cx="4251960" cy="2057400"/>
            <a:chOff x="0" y="0"/>
            <a:chExt cx="5669280" cy="274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69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082" t="0" r="-120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669280" cy="2790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9C9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 51% of movies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9C9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(73,856) carry a rating</a:t>
              </a:r>
            </a:p>
            <a:p>
              <a:pPr algn="ctr">
                <a:lnSpc>
                  <a:spcPts val="2340"/>
                </a:lnSpc>
              </a:pPr>
            </a:p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9C9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avg. rating 6.33 / 10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7940" y="2276856"/>
            <a:ext cx="192024" cy="192024"/>
            <a:chOff x="0" y="0"/>
            <a:chExt cx="256032" cy="2560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789420" y="2125980"/>
            <a:ext cx="10561320" cy="548640"/>
            <a:chOff x="0" y="0"/>
            <a:chExt cx="1408176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817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5086" r="0" b="-32508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4081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1B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Steady growth, then a drop-off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789420" y="2702052"/>
            <a:ext cx="10561320" cy="1165860"/>
            <a:chOff x="0" y="0"/>
            <a:chExt cx="14081760" cy="1554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0817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408176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6B6B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Annual releases climbed from 11.8K (2010) to 16.8K (2018); 2019 shows only 8.4K — the sample looks incomplete, not a real decline.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377940" y="4636008"/>
            <a:ext cx="192024" cy="192024"/>
            <a:chOff x="0" y="0"/>
            <a:chExt cx="256032" cy="25603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789420" y="4485132"/>
            <a:ext cx="10561320" cy="548640"/>
            <a:chOff x="0" y="0"/>
            <a:chExt cx="140817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0817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5086" r="0" b="-32508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4081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1B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Documentary and Drama lead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789420" y="5061204"/>
            <a:ext cx="10561320" cy="1165860"/>
            <a:chOff x="0" y="0"/>
            <a:chExt cx="14081760" cy="15544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0817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1408176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6B6B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Documentary (32,106) and Drama (21,306) are the top single genres — well ahead of Comedy (9,096), the next closest.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377940" y="6995160"/>
            <a:ext cx="192024" cy="192024"/>
            <a:chOff x="0" y="0"/>
            <a:chExt cx="256032" cy="2560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789420" y="6844284"/>
            <a:ext cx="10561320" cy="548640"/>
            <a:chOff x="0" y="0"/>
            <a:chExt cx="1408176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0817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5086" r="0" b="-32508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4081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1B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Ratings cluster in the middle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789420" y="7420356"/>
            <a:ext cx="10561320" cy="1165860"/>
            <a:chOff x="0" y="0"/>
            <a:chExt cx="14081760" cy="15544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0817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408176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6B6B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Most rated movies fall in the 5–6.9 and 7–8.9 brackets (over 80% of rated titles); very few sit at the extremes.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754380"/>
            <a:chOff x="0" y="0"/>
            <a:chExt cx="1828800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1B2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Business Question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399032"/>
            <a:ext cx="754380" cy="68580"/>
            <a:chOff x="0" y="0"/>
            <a:chExt cx="1005840" cy="91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1618488"/>
            <a:ext cx="16596360" cy="685800"/>
            <a:chOff x="0" y="0"/>
            <a:chExt cx="2212848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1B1B2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 larger creative teams produce higher-rated movies?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5860" y="2537460"/>
            <a:ext cx="7612380" cy="5705856"/>
            <a:chOff x="0" y="0"/>
            <a:chExt cx="10149840" cy="7607808"/>
          </a:xfrm>
        </p:grpSpPr>
        <p:sp>
          <p:nvSpPr>
            <p:cNvPr name="Freeform 11" id="11" descr="/home/claude/directors_rating_0.png"/>
            <p:cNvSpPr/>
            <p:nvPr/>
          </p:nvSpPr>
          <p:spPr>
            <a:xfrm flipH="false" flipV="false" rot="0">
              <a:off x="0" y="0"/>
              <a:ext cx="10149840" cy="7607808"/>
            </a:xfrm>
            <a:custGeom>
              <a:avLst/>
              <a:gdLst/>
              <a:ahLst/>
              <a:cxnLst/>
              <a:rect r="r" b="b" t="t" l="l"/>
              <a:pathLst>
                <a:path h="7607808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7607808"/>
                  </a:lnTo>
                  <a:lnTo>
                    <a:pt x="0" y="7607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" t="0" r="-24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464040" y="2537460"/>
            <a:ext cx="7612380" cy="5705856"/>
            <a:chOff x="0" y="0"/>
            <a:chExt cx="10149840" cy="7607808"/>
          </a:xfrm>
        </p:grpSpPr>
        <p:sp>
          <p:nvSpPr>
            <p:cNvPr name="Freeform 13" id="13" descr="/home/claude/writers_rating_0.png"/>
            <p:cNvSpPr/>
            <p:nvPr/>
          </p:nvSpPr>
          <p:spPr>
            <a:xfrm flipH="false" flipV="false" rot="0">
              <a:off x="0" y="0"/>
              <a:ext cx="10149840" cy="7607808"/>
            </a:xfrm>
            <a:custGeom>
              <a:avLst/>
              <a:gdLst/>
              <a:ahLst/>
              <a:cxnLst/>
              <a:rect r="r" b="b" t="t" l="l"/>
              <a:pathLst>
                <a:path h="7607808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7607808"/>
                  </a:lnTo>
                  <a:lnTo>
                    <a:pt x="0" y="7607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19" r="0" b="-71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8503920"/>
            <a:ext cx="16596360" cy="1303020"/>
            <a:chOff x="0" y="0"/>
            <a:chExt cx="22128480" cy="1737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284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2128480">
                  <a:moveTo>
                    <a:pt x="868680" y="0"/>
                  </a:moveTo>
                  <a:lnTo>
                    <a:pt x="21259800" y="0"/>
                  </a:lnTo>
                  <a:cubicBezTo>
                    <a:pt x="21739560" y="0"/>
                    <a:pt x="22128480" y="388921"/>
                    <a:pt x="22128480" y="868680"/>
                  </a:cubicBezTo>
                  <a:lnTo>
                    <a:pt x="22128480" y="868680"/>
                  </a:lnTo>
                  <a:cubicBezTo>
                    <a:pt x="22128480" y="1348439"/>
                    <a:pt x="21739560" y="1737360"/>
                    <a:pt x="21259800" y="1737360"/>
                  </a:cubicBezTo>
                  <a:lnTo>
                    <a:pt x="868680" y="1737360"/>
                  </a:lnTo>
                  <a:cubicBezTo>
                    <a:pt x="388921" y="1737360"/>
                    <a:pt x="0" y="1348439"/>
                    <a:pt x="0" y="868680"/>
                  </a:cubicBezTo>
                  <a:lnTo>
                    <a:pt x="0" y="868680"/>
                  </a:lnTo>
                  <a:cubicBezTo>
                    <a:pt x="0" y="388921"/>
                    <a:pt x="388921" y="0"/>
                    <a:pt x="868680" y="0"/>
                  </a:cubicBezTo>
                  <a:close/>
                </a:path>
              </a:pathLst>
            </a:custGeom>
            <a:solidFill>
              <a:srgbClr val="1B1B2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65860" y="8846820"/>
            <a:ext cx="219456" cy="219456"/>
            <a:chOff x="0" y="0"/>
            <a:chExt cx="292608" cy="2926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45920" y="8613648"/>
            <a:ext cx="15499080" cy="1097280"/>
            <a:chOff x="0" y="0"/>
            <a:chExt cx="2066544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6654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226" r="0" b="-22522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665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 relationship found — average rating is spread evenly across every team size. For this dataset, the number of directors or writers does not predict how a movie is rated.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822960"/>
            <a:chOff x="0" y="0"/>
            <a:chExt cx="182880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1B2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Cleaning Tasks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81328"/>
            <a:ext cx="754380" cy="68580"/>
            <a:chOff x="0" y="0"/>
            <a:chExt cx="1005840" cy="91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5840" cy="91440"/>
            </a:xfrm>
            <a:custGeom>
              <a:avLst/>
              <a:gdLst/>
              <a:ahLst/>
              <a:cxnLst/>
              <a:rect r="r" b="b" t="t" l="l"/>
              <a:pathLst>
                <a:path h="91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1577340"/>
            <a:ext cx="13716000" cy="548640"/>
            <a:chOff x="0" y="0"/>
            <a:chExt cx="182880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B6B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Identified during exploration — needed before deeper analysis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674620"/>
            <a:ext cx="178308" cy="178308"/>
            <a:chOff x="0" y="0"/>
            <a:chExt cx="237744" cy="2377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2537460"/>
            <a:ext cx="7543800" cy="480060"/>
            <a:chOff x="0" y="0"/>
            <a:chExt cx="1005840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058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B1B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Missing runtime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3031236"/>
            <a:ext cx="7543800" cy="1165860"/>
            <a:chOff x="0" y="0"/>
            <a:chExt cx="10058400" cy="1554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00584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6B6B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30,765 movies have a null runtime_minutes — exclude from runtime-based analysis.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4526280"/>
            <a:ext cx="178308" cy="178308"/>
            <a:chOff x="0" y="0"/>
            <a:chExt cx="237744" cy="2377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34440" y="4389120"/>
            <a:ext cx="7543800" cy="480060"/>
            <a:chOff x="0" y="0"/>
            <a:chExt cx="1005840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058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B1B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Missing / empty genres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4440" y="4882896"/>
            <a:ext cx="7543800" cy="1165860"/>
            <a:chOff x="0" y="0"/>
            <a:chExt cx="10058400" cy="1554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00584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6B6B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5,359 movies have no genre listed — exclude when grouping or filtering by genre.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6377940"/>
            <a:ext cx="178308" cy="178308"/>
            <a:chOff x="0" y="0"/>
            <a:chExt cx="237744" cy="2377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" y="6240780"/>
            <a:ext cx="7543800" cy="480060"/>
            <a:chOff x="0" y="0"/>
            <a:chExt cx="100584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058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B1B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Unrated movies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4440" y="6734556"/>
            <a:ext cx="7543800" cy="1165860"/>
            <a:chOff x="0" y="0"/>
            <a:chExt cx="10058400" cy="1554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00584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6B6B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 51% of movies have a rating — INNER JOIN to movie_ratings excludes the rest automatically.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8229600"/>
            <a:ext cx="178308" cy="178308"/>
            <a:chOff x="0" y="0"/>
            <a:chExt cx="237744" cy="2377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34440" y="8092440"/>
            <a:ext cx="7543800" cy="480060"/>
            <a:chOff x="0" y="0"/>
            <a:chExt cx="10058400" cy="640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0058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B1B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Duplicate credits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34440" y="8586216"/>
            <a:ext cx="7543800" cy="1165860"/>
            <a:chOff x="0" y="0"/>
            <a:chExt cx="10058400" cy="15544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58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100584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6B6B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director/writer can appear more than once per movie — use COUNT(DISTINCT person_id).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64040" y="2674620"/>
            <a:ext cx="178308" cy="178308"/>
            <a:chOff x="0" y="0"/>
            <a:chExt cx="237744" cy="2377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875520" y="2537460"/>
            <a:ext cx="7543800" cy="480060"/>
            <a:chOff x="0" y="0"/>
            <a:chExt cx="1005840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058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B1B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Pipe-separated genres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875520" y="3031236"/>
            <a:ext cx="7543800" cy="1165860"/>
            <a:chOff x="0" y="0"/>
            <a:chExt cx="10058400" cy="15544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58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100584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6B6B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Genres are stored as 'Comedy|Drama|Romance' — split into rows for detailed genre analysis.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64040" y="4526280"/>
            <a:ext cx="178308" cy="178308"/>
            <a:chOff x="0" y="0"/>
            <a:chExt cx="237744" cy="23774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875520" y="4389120"/>
            <a:ext cx="7543800" cy="480060"/>
            <a:chOff x="0" y="0"/>
            <a:chExt cx="10058400" cy="640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0058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B1B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Inconsistent casing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875520" y="4882896"/>
            <a:ext cx="7543800" cy="1165860"/>
            <a:chOff x="0" y="0"/>
            <a:chExt cx="10058400" cy="15544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058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100584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6B6B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region / language fields vary in capitalization — standardize before grouping.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464040" y="6377940"/>
            <a:ext cx="178308" cy="178308"/>
            <a:chOff x="0" y="0"/>
            <a:chExt cx="237744" cy="2377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875520" y="6240780"/>
            <a:ext cx="7543800" cy="480060"/>
            <a:chOff x="0" y="0"/>
            <a:chExt cx="10058400" cy="6400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0058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B1B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Incomplete 2019 data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875520" y="6734556"/>
            <a:ext cx="7543800" cy="1165860"/>
            <a:chOff x="0" y="0"/>
            <a:chExt cx="10058400" cy="15544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058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1005840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6B6B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2019 has ~8.4K movies vs. ~17K in prior years — exclude from year-over-year trends.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DAHPxcPyOPQ</dc:identifier>
  <dcterms:modified xsi:type="dcterms:W3CDTF">2011-08-01T06:04:30Z</dcterms:modified>
  <cp:revision>1</cp:revision>
  <dc:title>Exploratory SQL analysis of movies released 2010–2019 ~ By Shaun Raymond M. Okwuosa</dc:title>
</cp:coreProperties>
</file>